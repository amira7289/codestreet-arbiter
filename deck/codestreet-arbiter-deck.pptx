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9224" y="530352"/>
            <a:ext cx="274320" cy="274320"/>
          </a:xfrm>
          <a:prstGeom prst="ellipse">
            <a:avLst/>
          </a:prstGeom>
          <a:solidFill>
            <a:srgbClr val="006F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98448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C9A239"/>
                </a:solidFill>
                <a:latin typeface="Arial"/>
              </a:rPr>
              <a:t>AMERICAN EXPRESS CODESTREET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98448"/>
            <a:ext cx="7680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 i="0">
                <a:solidFill>
                  <a:srgbClr val="FFFFFF"/>
                </a:solidFill>
                <a:latin typeface="Arial"/>
              </a:rPr>
              <a:t>ARBITER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75104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006FCF"/>
                </a:solidFill>
                <a:latin typeface="Arial"/>
              </a:rPr>
              <a:t>Dispute Resolution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2542032"/>
            <a:ext cx="1188720" cy="54864"/>
          </a:xfrm>
          <a:prstGeom prst="rect">
            <a:avLst/>
          </a:prstGeom>
          <a:solidFill>
            <a:srgbClr val="C9A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779776"/>
            <a:ext cx="74980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A neutral arbiter that shows both sides the same reasoning — in seconds, not weeks.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3675887"/>
            <a:ext cx="566928" cy="566928"/>
          </a:xfrm>
          <a:prstGeom prst="ellipse">
            <a:avLst/>
          </a:prstGeom>
          <a:noFill/>
          <a:ln w="19050">
            <a:solidFill>
              <a:srgbClr val="C9A2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3813048"/>
            <a:ext cx="56692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9A239"/>
                </a:solidFill>
                <a:latin typeface="Arial"/>
              </a:rPr>
              <a:t>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6152" y="3703320"/>
            <a:ext cx="1170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FFFFF"/>
                </a:solidFill>
                <a:latin typeface="Arial"/>
              </a:rPr>
              <a:t>Extracts facts,
never decides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3432" y="3648456"/>
            <a:ext cx="10972" cy="621792"/>
          </a:xfrm>
          <a:prstGeom prst="rect">
            <a:avLst/>
          </a:prstGeom>
          <a:solidFill>
            <a:srgbClr val="2A4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50591" y="3675887"/>
            <a:ext cx="566928" cy="566928"/>
          </a:xfrm>
          <a:prstGeom prst="ellipse">
            <a:avLst/>
          </a:prstGeom>
          <a:noFill/>
          <a:ln w="19050">
            <a:solidFill>
              <a:srgbClr val="C9A2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50591" y="3813048"/>
            <a:ext cx="56692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9A239"/>
                </a:solidFill>
                <a:latin typeface="Arial"/>
              </a:rPr>
              <a:t>SC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63823" y="3703320"/>
            <a:ext cx="1170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FFFFF"/>
                </a:solidFill>
                <a:latin typeface="Arial"/>
              </a:rPr>
              <a:t>25 named signals,
one scorecard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61103" y="3648456"/>
            <a:ext cx="10972" cy="621792"/>
          </a:xfrm>
          <a:prstGeom prst="rect">
            <a:avLst/>
          </a:prstGeom>
          <a:solidFill>
            <a:srgbClr val="2A4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98264" y="3675887"/>
            <a:ext cx="566928" cy="566928"/>
          </a:xfrm>
          <a:prstGeom prst="ellipse">
            <a:avLst/>
          </a:prstGeom>
          <a:noFill/>
          <a:ln w="19050">
            <a:solidFill>
              <a:srgbClr val="C9A2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98264" y="3813048"/>
            <a:ext cx="56692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9A239"/>
                </a:solidFill>
                <a:latin typeface="Arial"/>
              </a:rPr>
              <a:t>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11496" y="3703320"/>
            <a:ext cx="1170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FFFFF"/>
                </a:solidFill>
                <a:latin typeface="Arial"/>
              </a:rPr>
              <a:t>Settle before
adjudicating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08776" y="3648456"/>
            <a:ext cx="10972" cy="621792"/>
          </a:xfrm>
          <a:prstGeom prst="rect">
            <a:avLst/>
          </a:prstGeom>
          <a:solidFill>
            <a:srgbClr val="2A4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45936" y="3675887"/>
            <a:ext cx="566928" cy="566928"/>
          </a:xfrm>
          <a:prstGeom prst="ellipse">
            <a:avLst/>
          </a:prstGeom>
          <a:noFill/>
          <a:ln w="19050">
            <a:solidFill>
              <a:srgbClr val="C9A2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45936" y="3813048"/>
            <a:ext cx="56692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9A239"/>
                </a:solidFill>
                <a:latin typeface="Arial"/>
              </a:rPr>
              <a:t>XP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9168" y="3703320"/>
            <a:ext cx="1170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FFFFF"/>
                </a:solidFill>
                <a:latin typeface="Arial"/>
              </a:rPr>
              <a:t>Counterfactual on
every verdict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590288"/>
            <a:ext cx="7680960" cy="868680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2A4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7240" y="4828032"/>
            <a:ext cx="402336" cy="402336"/>
          </a:xfrm>
          <a:prstGeom prst="ellipse">
            <a:avLst/>
          </a:prstGeom>
          <a:noFill/>
          <a:ln w="38100">
            <a:solidFill>
              <a:srgbClr val="C9A2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17320" y="4718304"/>
            <a:ext cx="65836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The decision is never in the model. </a:t>
            </a:r>
            <a:r>
              <a:rPr sz="1400" b="1" i="0">
                <a:solidFill>
                  <a:srgbClr val="C9A239"/>
                </a:solidFill>
                <a:latin typeface="Arial"/>
              </a:rPr>
              <a:t>Every point traces to a named rule</a:t>
            </a:r>
            <a:r>
              <a:rPr sz="1400" b="1" i="0">
                <a:solidFill>
                  <a:srgbClr val="FFFFFF"/>
                </a:solidFill>
                <a:latin typeface="Arial"/>
              </a:rPr>
              <a:t> both parties can read.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623560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A239"/>
                </a:solidFill>
                <a:latin typeface="Arial"/>
              </a:rPr>
              <a:t>Theme: </a:t>
            </a:r>
            <a:r>
              <a:rPr sz="1200" b="0" i="0">
                <a:solidFill>
                  <a:srgbClr val="FFFFFF"/>
                </a:solidFill>
                <a:latin typeface="Arial"/>
              </a:rPr>
              <a:t>Frictionless Dispute &amp; Chargeback Resolution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93445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A239"/>
                </a:solidFill>
                <a:latin typeface="Arial"/>
              </a:rPr>
              <a:t>Team Name: </a:t>
            </a:r>
            <a:r>
              <a:rPr sz="1200" b="0" i="0">
                <a:solidFill>
                  <a:srgbClr val="FFFFFF"/>
                </a:solidFill>
                <a:latin typeface="Arial"/>
              </a:rPr>
              <a:t>[TEAM NAME]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245352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A239"/>
                </a:solidFill>
                <a:latin typeface="Arial"/>
              </a:rPr>
              <a:t>Team Members: </a:t>
            </a:r>
            <a:r>
              <a:rPr sz="1200" b="0" i="0">
                <a:solidFill>
                  <a:srgbClr val="FFFFFF"/>
                </a:solidFill>
                <a:latin typeface="Arial"/>
              </a:rPr>
              <a:t>[Member 1]  •  [Member 2]</a:t>
            </a:r>
          </a:p>
        </p:txBody>
      </p:sp>
      <p:sp>
        <p:nvSpPr>
          <p:cNvPr id="31" name="Oval 30"/>
          <p:cNvSpPr/>
          <p:nvPr/>
        </p:nvSpPr>
        <p:spPr>
          <a:xfrm>
            <a:off x="8092441" y="1188721"/>
            <a:ext cx="3749039" cy="374903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339328" y="1435608"/>
            <a:ext cx="3255264" cy="3255264"/>
          </a:xfrm>
          <a:prstGeom prst="ellipse">
            <a:avLst/>
          </a:prstGeom>
          <a:solidFill>
            <a:srgbClr val="061D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668512" y="1764792"/>
            <a:ext cx="2596896" cy="2596896"/>
          </a:xfrm>
          <a:prstGeom prst="ellipse">
            <a:avLst/>
          </a:prstGeom>
          <a:noFill/>
          <a:ln w="12700">
            <a:solidFill>
              <a:srgbClr val="006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052560" y="2148840"/>
            <a:ext cx="1828800" cy="1828800"/>
          </a:xfrm>
          <a:prstGeom prst="ellipse">
            <a:avLst/>
          </a:prstGeom>
          <a:noFill/>
          <a:ln w="12700">
            <a:solidFill>
              <a:srgbClr val="C9A2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866376" y="2962656"/>
            <a:ext cx="201168" cy="201168"/>
          </a:xfrm>
          <a:prstGeom prst="ellipse">
            <a:avLst/>
          </a:prstGeom>
          <a:solidFill>
            <a:srgbClr val="006F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916668" y="1714500"/>
            <a:ext cx="100584" cy="100584"/>
          </a:xfrm>
          <a:prstGeom prst="ellipse">
            <a:avLst/>
          </a:prstGeom>
          <a:solidFill>
            <a:srgbClr val="C9A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831068" y="2098548"/>
            <a:ext cx="100584" cy="100584"/>
          </a:xfrm>
          <a:prstGeom prst="ellipse">
            <a:avLst/>
          </a:prstGeom>
          <a:solidFill>
            <a:srgbClr val="C9A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215116" y="3012948"/>
            <a:ext cx="100584" cy="100584"/>
          </a:xfrm>
          <a:prstGeom prst="ellipse">
            <a:avLst/>
          </a:prstGeom>
          <a:solidFill>
            <a:srgbClr val="C9A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831068" y="3927348"/>
            <a:ext cx="100584" cy="100584"/>
          </a:xfrm>
          <a:prstGeom prst="ellipse">
            <a:avLst/>
          </a:prstGeom>
          <a:solidFill>
            <a:srgbClr val="C9A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916668" y="4311396"/>
            <a:ext cx="100584" cy="100584"/>
          </a:xfrm>
          <a:prstGeom prst="ellipse">
            <a:avLst/>
          </a:prstGeom>
          <a:solidFill>
            <a:srgbClr val="C9A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002268" y="3927348"/>
            <a:ext cx="100584" cy="100584"/>
          </a:xfrm>
          <a:prstGeom prst="ellipse">
            <a:avLst/>
          </a:prstGeom>
          <a:solidFill>
            <a:srgbClr val="C9A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618220" y="3012948"/>
            <a:ext cx="100584" cy="100584"/>
          </a:xfrm>
          <a:prstGeom prst="ellipse">
            <a:avLst/>
          </a:prstGeom>
          <a:solidFill>
            <a:srgbClr val="C9A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002268" y="2098548"/>
            <a:ext cx="100584" cy="100584"/>
          </a:xfrm>
          <a:prstGeom prst="ellipse">
            <a:avLst/>
          </a:prstGeom>
          <a:solidFill>
            <a:srgbClr val="C9A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23960" y="2404872"/>
            <a:ext cx="2286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One </a:t>
            </a:r>
            <a:r>
              <a:rPr sz="1500" b="1" i="0">
                <a:solidFill>
                  <a:srgbClr val="6FB4EC"/>
                </a:solidFill>
                <a:latin typeface="Arial"/>
              </a:rPr>
              <a:t>Scorecard.</a:t>
            </a:r>
          </a:p>
          <a:p>
            <a:pPr algn="ctr">
              <a:lnSpc>
                <a:spcPct val="130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Every Case.</a:t>
            </a:r>
          </a:p>
          <a:p>
            <a:pPr algn="ctr">
              <a:lnSpc>
                <a:spcPct val="130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Full Transparency.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0A2A5E"/>
                </a:solidFill>
                <a:latin typeface="Arial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98448"/>
            <a:ext cx="9509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5A6472"/>
                </a:solidFill>
                <a:latin typeface="Arial"/>
              </a:rPr>
              <a:t>A card member disputes a charge, and then everyone waits — including the merchant.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658368" cy="658368"/>
          </a:xfrm>
          <a:prstGeom prst="roundRect">
            <a:avLst>
              <a:gd name="adj" fmla="val 6000"/>
            </a:avLst>
          </a:prstGeom>
          <a:solidFill>
            <a:srgbClr val="0A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276856"/>
            <a:ext cx="6583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12140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A2A5E"/>
                </a:solidFill>
                <a:latin typeface="Arial"/>
              </a:rPr>
              <a:t>Weeks of waiting, on both sides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487168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A6472"/>
                </a:solidFill>
                <a:latin typeface="Arial"/>
              </a:rPr>
              <a:t>The merchant gets weeks to respond and the card member is out of pocket meanwhile. Neither can do anything to speed it 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337560"/>
            <a:ext cx="658368" cy="658368"/>
          </a:xfrm>
          <a:prstGeom prst="roundRect">
            <a:avLst>
              <a:gd name="adj" fmla="val 6000"/>
            </a:avLst>
          </a:prstGeom>
          <a:solidFill>
            <a:srgbClr val="0A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511296"/>
            <a:ext cx="6583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3558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A2A5E"/>
                </a:solidFill>
                <a:latin typeface="Arial"/>
              </a:rPr>
              <a:t>A verdict with no reasoning attached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721608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A6472"/>
                </a:solidFill>
                <a:latin typeface="Arial"/>
              </a:rPr>
              <a:t>An analyst reads shipping records, policies and correspondence, and issues an outcome. Neither party is told which fact decided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72000"/>
            <a:ext cx="658368" cy="658368"/>
          </a:xfrm>
          <a:prstGeom prst="roundRect">
            <a:avLst>
              <a:gd name="adj" fmla="val 6000"/>
            </a:avLst>
          </a:prstGeom>
          <a:solidFill>
            <a:srgbClr val="0A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745736"/>
            <a:ext cx="6583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459028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A2A5E"/>
                </a:solidFill>
                <a:latin typeface="Arial"/>
              </a:rPr>
              <a:t>Every tool on the market is one-sided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956048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A6472"/>
                </a:solidFill>
                <a:latin typeface="Arial"/>
              </a:rPr>
              <a:t>Merchant win-rate services argue for the merchant. Network data-sharing prevents escalation. Nobody arbitrates neutrally and shows their working.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E"/>
                </a:solidFill>
                <a:latin typeface="Arial"/>
              </a:rPr>
              <a:t>[TEAM NAME]  ·  American Express CodeStreet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39E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0A2A5E"/>
                </a:solidFill>
                <a:latin typeface="Arial"/>
              </a:rPr>
              <a:t>Our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1874519"/>
            <a:ext cx="1014984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2240280"/>
            <a:ext cx="90525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100" b="1" i="1">
                <a:solidFill>
                  <a:srgbClr val="0A2A5E"/>
                </a:solidFill>
                <a:latin typeface="Arial"/>
              </a:rPr>
              <a:t>“An issuer-run arbiter that auto-gathers the evidence, weighs it with a deterministic scorecard, and hands both parties the same explanation for the same verdict.”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51960"/>
            <a:ext cx="10149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0A2A5E"/>
                </a:solidFill>
                <a:latin typeface="Arial"/>
              </a:rPr>
              <a:t>What we are NOT building: </a:t>
            </a:r>
          </a:p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5A6472"/>
                </a:solidFill>
                <a:latin typeface="Arial"/>
              </a:rPr>
              <a:t>Not fraud detection — the transaction is genuine and the dispute is about what happened next. Not a merchant win-rate tool. Not a trained classifier: the model extracts facts and writes prose, it never decides the outcome.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E"/>
                </a:solidFill>
                <a:latin typeface="Arial"/>
              </a:rPr>
              <a:t>[TEAM NAME]  ·  American Express CodeStreet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39E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0A2A5E"/>
                </a:solidFill>
                <a:latin typeface="Arial"/>
              </a:rPr>
              <a:t>What Makes Us Different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3447288" cy="3200400"/>
          </a:xfrm>
          <a:prstGeom prst="roundRect">
            <a:avLst>
              <a:gd name="adj" fmla="val 6000"/>
            </a:avLst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24128" y="2395728"/>
            <a:ext cx="566928" cy="566928"/>
          </a:xfrm>
          <a:prstGeom prst="ellipse">
            <a:avLst/>
          </a:prstGeom>
          <a:solidFill>
            <a:srgbClr val="0A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2542032"/>
            <a:ext cx="5669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3310128"/>
            <a:ext cx="2697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0A2A5E"/>
                </a:solidFill>
                <a:latin typeface="Arial"/>
              </a:rPr>
              <a:t>Neutral, and two-sided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3931920"/>
            <a:ext cx="2697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5A6472"/>
                </a:solidFill>
                <a:latin typeface="Arial"/>
              </a:rPr>
              <a:t>Both parties read the identical explanation. Every competing tool argues for one side or moves data between institutions.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965960"/>
            <a:ext cx="3447288" cy="3200400"/>
          </a:xfrm>
          <a:prstGeom prst="roundRect">
            <a:avLst>
              <a:gd name="adj" fmla="val 6000"/>
            </a:avLst>
          </a:prstGeom>
          <a:solidFill>
            <a:srgbClr val="0A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745736" y="2395728"/>
            <a:ext cx="566928" cy="566928"/>
          </a:xfrm>
          <a:prstGeom prst="ellipse">
            <a:avLst/>
          </a:prstGeom>
          <a:solidFill>
            <a:srgbClr val="006F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5736" y="2542032"/>
            <a:ext cx="5669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5736" y="3310128"/>
            <a:ext cx="2697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FFFFFF"/>
                </a:solidFill>
                <a:latin typeface="Arial"/>
              </a:rPr>
              <a:t>The model never decides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5736" y="3931920"/>
            <a:ext cx="2697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C7D8EE"/>
                </a:solidFill>
                <a:latin typeface="Arial"/>
              </a:rPr>
              <a:t>An LLM extracts typed facts and narrates. A deterministic scorecard rules. That split is what makes the verdict reproducible, auditable and testable.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3296" y="1965960"/>
            <a:ext cx="3447288" cy="3200400"/>
          </a:xfrm>
          <a:prstGeom prst="roundRect">
            <a:avLst>
              <a:gd name="adj" fmla="val 6000"/>
            </a:avLst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67344" y="2395728"/>
            <a:ext cx="566928" cy="566928"/>
          </a:xfrm>
          <a:prstGeom prst="ellipse">
            <a:avLst/>
          </a:prstGeom>
          <a:solidFill>
            <a:srgbClr val="0A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67344" y="2542032"/>
            <a:ext cx="5669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3310128"/>
            <a:ext cx="2697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0A2A5E"/>
                </a:solidFill>
                <a:latin typeface="Arial"/>
              </a:rPr>
              <a:t>It reports its own uncertainty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67344" y="3931920"/>
            <a:ext cx="2697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5A6472"/>
                </a:solidFill>
                <a:latin typeface="Arial"/>
              </a:rPr>
              <a:t>Confidence is damped by how much evidence exists, ties are disclosed on the verdict, and cases nobody could decide are flagged for a human.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E"/>
                </a:solidFill>
                <a:latin typeface="Arial"/>
              </a:rPr>
              <a:t>[TEAM NAME]  ·  American Express CodeStreet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39E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0A2A5E"/>
                </a:solidFill>
                <a:latin typeface="Arial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98448"/>
            <a:ext cx="9509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5A6472"/>
                </a:solidFill>
                <a:latin typeface="Arial"/>
              </a:rPr>
              <a:t>Five stages. Adjudication is the fallback, not the first move.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31720"/>
            <a:ext cx="1956816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A2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624328"/>
            <a:ext cx="1956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A2A5E"/>
                </a:solidFill>
                <a:latin typeface="Arial"/>
              </a:rPr>
              <a:t>Gather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17520"/>
            <a:ext cx="195681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5A6472"/>
                </a:solidFill>
                <a:latin typeface="Arial"/>
              </a:rPr>
              <a:t>4 sources
queried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15184" y="2761488"/>
            <a:ext cx="3108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006FCF"/>
                </a:solidFill>
                <a:latin typeface="Arial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6080" y="2331720"/>
            <a:ext cx="1956816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A2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2624328"/>
            <a:ext cx="1956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A2A5E"/>
                </a:solidFill>
                <a:latin typeface="Arial"/>
              </a:rPr>
              <a:t>Extract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3017520"/>
            <a:ext cx="195681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5A6472"/>
                </a:solidFill>
                <a:latin typeface="Arial"/>
              </a:rPr>
              <a:t>typed facts,
not prose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01184" y="2761488"/>
            <a:ext cx="3108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006FCF"/>
                </a:solidFill>
                <a:latin typeface="Arial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331720"/>
            <a:ext cx="1956816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6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0" y="2624328"/>
            <a:ext cx="1956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06FCF"/>
                </a:solidFill>
                <a:latin typeface="Arial"/>
              </a:rPr>
              <a:t>Negotiate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3017520"/>
            <a:ext cx="195681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5A6472"/>
                </a:solidFill>
                <a:latin typeface="Arial"/>
              </a:rPr>
              <a:t>settle without
a ruling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87184" y="2761488"/>
            <a:ext cx="3108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006FCF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79" y="2331720"/>
            <a:ext cx="1956816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A2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79" y="2624328"/>
            <a:ext cx="1956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A2A5E"/>
                </a:solidFill>
                <a:latin typeface="Arial"/>
              </a:rPr>
              <a:t>Score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3017520"/>
            <a:ext cx="195681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5A6472"/>
                </a:solidFill>
                <a:latin typeface="Arial"/>
              </a:rPr>
              <a:t>25 weighted
signals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73183" y="2761488"/>
            <a:ext cx="3108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006FCF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84080" y="2331720"/>
            <a:ext cx="1956816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A2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2624328"/>
            <a:ext cx="1956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A2A5E"/>
                </a:solidFill>
                <a:latin typeface="Arial"/>
              </a:rPr>
              <a:t>Explain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3017520"/>
            <a:ext cx="195681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5A6472"/>
                </a:solidFill>
                <a:latin typeface="Arial"/>
              </a:rPr>
              <a:t>code, reasons,
counterfactual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1605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0A2A5E"/>
                </a:solidFill>
                <a:latin typeface="Arial"/>
              </a:rPr>
              <a:t>A settlement both sides accept closes the case with no verdict at all. </a:t>
            </a:r>
            <a:r>
              <a:rPr sz="1300" b="0" i="0">
                <a:solidFill>
                  <a:srgbClr val="5A6472"/>
                </a:solidFill>
                <a:latin typeface="Arial"/>
              </a:rPr>
              <a:t>Where they cannot agree, the scorecard rules — and because it is arithmetic over named signals, the same evidence always produces the same answer.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E"/>
                </a:solidFill>
                <a:latin typeface="Arial"/>
              </a:rPr>
              <a:t>[TEAM NAME]  ·  American Express CodeStreet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39E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0A2A5E"/>
                </a:solidFill>
                <a:latin typeface="Arial"/>
              </a:rPr>
              <a:t>Four Layers of Reasoning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98448"/>
            <a:ext cx="9509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5A6472"/>
                </a:solidFill>
                <a:latin typeface="Arial"/>
              </a:rPr>
              <a:t>In increasing order of usefulness to the party who just lost.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066544"/>
            <a:ext cx="457200" cy="457200"/>
          </a:xfrm>
          <a:prstGeom prst="ellipse">
            <a:avLst/>
          </a:prstGeom>
          <a:solidFill>
            <a:srgbClr val="0A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39696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01168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A2A5E"/>
                </a:solidFill>
                <a:latin typeface="Arial"/>
              </a:rPr>
              <a:t>Signal breakdown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60" y="2029968"/>
            <a:ext cx="7589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472"/>
                </a:solidFill>
                <a:latin typeface="Arial"/>
              </a:rPr>
              <a:t>Every point, named, attributed to the document it came from.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026664"/>
            <a:ext cx="457200" cy="457200"/>
          </a:xfrm>
          <a:prstGeom prst="ellipse">
            <a:avLst/>
          </a:prstGeom>
          <a:solidFill>
            <a:srgbClr val="0A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99816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97180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A2A5E"/>
                </a:solidFill>
                <a:latin typeface="Arial"/>
              </a:rPr>
              <a:t>Amex reason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2990088"/>
            <a:ext cx="7589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472"/>
                </a:solidFill>
                <a:latin typeface="Arial"/>
              </a:rPr>
              <a:t>C02 / C08 / C31 / C32 / P08, derived deterministically from claim type and fired signals.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986784"/>
            <a:ext cx="457200" cy="457200"/>
          </a:xfrm>
          <a:prstGeom prst="ellipse">
            <a:avLst/>
          </a:prstGeom>
          <a:solidFill>
            <a:srgbClr val="006F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059936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93192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A2A5E"/>
                </a:solidFill>
                <a:latin typeface="Arial"/>
              </a:rPr>
              <a:t>The counterfactual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3950208"/>
            <a:ext cx="7589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472"/>
                </a:solidFill>
                <a:latin typeface="Arial"/>
              </a:rPr>
              <a:t>“This would have gone the other way if these had not been established (−45 points)…” Pure arithmetic over the scorecard, so it cannot hallucinate.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946904"/>
            <a:ext cx="457200" cy="457200"/>
          </a:xfrm>
          <a:prstGeom prst="ellipse">
            <a:avLst/>
          </a:prstGeom>
          <a:solidFill>
            <a:srgbClr val="0A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020056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8920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A2A5E"/>
                </a:solidFill>
                <a:latin typeface="Arial"/>
              </a:rPr>
              <a:t>The narrative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4910328"/>
            <a:ext cx="7589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472"/>
                </a:solidFill>
                <a:latin typeface="Arial"/>
              </a:rPr>
              <a:t>Required to name the losing side's strongest point and why it was outweighed.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852160"/>
            <a:ext cx="10744200" cy="384048"/>
          </a:xfrm>
          <a:prstGeom prst="roundRect">
            <a:avLst>
              <a:gd name="adj" fmla="val 6000"/>
            </a:avLst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943600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0A2A5E"/>
                </a:solidFill>
                <a:latin typeface="Arial"/>
              </a:rPr>
              <a:t>Plus a “recommended for human review” flag when a party filed evidence no rule reads, or confidence falls below 35%.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E"/>
                </a:solidFill>
                <a:latin typeface="Arial"/>
              </a:rPr>
              <a:t>[TEAM NAME]  ·  American Express CodeStreet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39E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Arial"/>
              </a:rPr>
              <a:t>Fairness, Stated Out Loud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C9A239"/>
                </a:solidFill>
                <a:latin typeface="Arial"/>
              </a:rPr>
              <a:t>We do not claim the scorecard is unbiased.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Arial"/>
              </a:rPr>
              <a:t>Ambiguous cases resolve to the card member, matching issuer provisional-credit practice. That default is deliberate — and it is printed on the verdict as a zero-weight signal, not hidden inside a comparison operator.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063240"/>
            <a:ext cx="45720" cy="868680"/>
          </a:xfrm>
          <a:prstGeom prst="rect">
            <a:avLst/>
          </a:prstGeom>
          <a:solidFill>
            <a:srgbClr val="C9A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10896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C9A239"/>
                </a:solidFill>
                <a:latin typeface="Arial"/>
              </a:rPr>
              <a:t>The target is not a bias gap of zero.</a:t>
            </a:r>
          </a:p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It is that every point of directional bias traces to a rule we state out 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C9A239"/>
                </a:solidFill>
                <a:latin typeface="Arial"/>
              </a:rPr>
              <a:t>bias_gap 0.000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92040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C7D8EE"/>
                </a:solidFill>
                <a:latin typeface="Arial"/>
              </a:rPr>
              <a:t>recall equal for both parties on the labelled corpus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443484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C9A239"/>
                </a:solidFill>
                <a:latin typeface="Arial"/>
              </a:rPr>
              <a:t>0 confidently wrong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4892040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C7D8EE"/>
                </a:solidFill>
                <a:latin typeface="Arial"/>
              </a:rPr>
              <a:t>no verdict above 80% confidence missed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443484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C9A239"/>
                </a:solidFill>
                <a:latin typeface="Arial"/>
              </a:rPr>
              <a:t>CI-enforced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4892040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C7D8EE"/>
                </a:solidFill>
                <a:latin typeface="Arial"/>
              </a:rPr>
              <a:t>the build fails on any weight asymmetry left undocumented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E"/>
                </a:solidFill>
                <a:latin typeface="Arial"/>
              </a:rPr>
              <a:t>[TEAM NAME]  ·  American Express CodeStreet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39E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0A2A5E"/>
                </a:solidFill>
                <a:latin typeface="Arial"/>
              </a:rPr>
              <a:t>Scope: What's Real vs. Mocked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98448"/>
            <a:ext cx="9509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5A6472"/>
                </a:solidFill>
                <a:latin typeface="Arial"/>
              </a:rPr>
              <a:t>Stated plainly, because a system whose thesis is reporting its own uncertainty should demonstrate that about itself.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94560"/>
            <a:ext cx="10744200" cy="475488"/>
          </a:xfrm>
          <a:prstGeom prst="rect">
            <a:avLst/>
          </a:prstGeom>
          <a:solidFill>
            <a:srgbClr val="0A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225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Component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232257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98064"/>
            <a:ext cx="7498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A2A5E"/>
                </a:solidFill>
                <a:latin typeface="Arial"/>
              </a:rPr>
              <a:t>Evidence extraction, scoring, verdicts, counterfactuals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27980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A2A5E"/>
                </a:solidFill>
                <a:latin typeface="Arial"/>
              </a:rPr>
              <a:t>Fully working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145536"/>
            <a:ext cx="10744200" cy="475488"/>
          </a:xfrm>
          <a:prstGeom prst="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273552"/>
            <a:ext cx="7498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A2A5E"/>
                </a:solidFill>
                <a:latin typeface="Arial"/>
              </a:rPr>
              <a:t>Negotiation: offers, counters, settlement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32735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A2A5E"/>
                </a:solidFill>
                <a:latin typeface="Arial"/>
              </a:rPr>
              <a:t>Fully working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49040"/>
            <a:ext cx="7498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A2A5E"/>
                </a:solidFill>
                <a:latin typeface="Arial"/>
              </a:rPr>
              <a:t>Two-party live interface, auto-gather timeline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37490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A2A5E"/>
                </a:solidFill>
                <a:latin typeface="Arial"/>
              </a:rPr>
              <a:t>Fully working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096512"/>
            <a:ext cx="10744200" cy="475488"/>
          </a:xfrm>
          <a:prstGeom prst="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224528"/>
            <a:ext cx="7498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A2A5E"/>
                </a:solidFill>
                <a:latin typeface="Arial"/>
              </a:rPr>
              <a:t>Test suite, accuracy / fairness / calibration harness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4224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A2A5E"/>
                </a:solidFill>
                <a:latin typeface="Arial"/>
              </a:rPr>
              <a:t>Fully working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700016"/>
            <a:ext cx="7498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A2A5E"/>
                </a:solidFill>
                <a:latin typeface="Arial"/>
              </a:rPr>
              <a:t>The four evidence sources (carrier, ledger, policy, CRM)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470001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6472"/>
                </a:solidFill>
                <a:latin typeface="Arial"/>
              </a:rPr>
              <a:t>Simulated for demo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047488"/>
            <a:ext cx="10744200" cy="475488"/>
          </a:xfrm>
          <a:prstGeom prst="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175504"/>
            <a:ext cx="7498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A2A5E"/>
                </a:solidFill>
                <a:latin typeface="Arial"/>
              </a:rPr>
              <a:t>Connector latencies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517550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6472"/>
                </a:solidFill>
                <a:latin typeface="Arial"/>
              </a:rPr>
              <a:t>Reported, not measured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650992"/>
            <a:ext cx="7498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A2A5E"/>
                </a:solidFill>
                <a:latin typeface="Arial"/>
              </a:rPr>
              <a:t>Learned weights, abstain verdict, production auth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565099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6472"/>
                </a:solidFill>
                <a:latin typeface="Arial"/>
              </a:rPr>
              <a:t>Roadmap only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E"/>
                </a:solidFill>
                <a:latin typeface="Arial"/>
              </a:rPr>
              <a:t>[TEAM NAME]  ·  American Express CodeStreet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39E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Arial"/>
              </a:rPr>
              <a:t>Business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FB4EC"/>
                </a:solidFill>
                <a:latin typeface="Arial"/>
              </a:rPr>
              <a:t>Every figure below is produced by GET /metrics on the running system, not asserted.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C9A239"/>
                </a:solidFill>
                <a:latin typeface="Arial"/>
              </a:rPr>
              <a:t>54 / 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2900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labelled cases called correctly
on the golden corpus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51960" y="23774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C9A239"/>
                </a:solidFill>
                <a:latin typeface="Arial"/>
              </a:rPr>
              <a:t>0.12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342900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p95 to parse, score and explain
a complete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23774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C9A239"/>
                </a:solidFill>
                <a:latin typeface="Arial"/>
              </a:rPr>
              <a:t>0.000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342900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bias gap between the two parties—
recall is equal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572000"/>
            <a:ext cx="10744200" cy="1234440"/>
          </a:xfrm>
          <a:prstGeom prst="roundRect">
            <a:avLst>
              <a:gd name="adj" fmla="val 6000"/>
            </a:avLst>
          </a:prstGeom>
          <a:solidFill>
            <a:srgbClr val="061D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7548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 i="0">
                <a:solidFill>
                  <a:srgbClr val="C9A239"/>
                </a:solidFill>
                <a:latin typeface="Arial"/>
              </a:rPr>
              <a:t>Read 54/54 as a warning, not a trophy. </a:t>
            </a:r>
            <a:r>
              <a:rPr sz="1200" b="0" i="0">
                <a:solidFill>
                  <a:srgbClr val="FFFFFF"/>
                </a:solidFill>
                <a:latin typeface="Arial"/>
              </a:rPr>
              <a:t>The scorecard was tuned against this corpus, so a perfect score means the corpus has stopped discriminating — not that the system is perfect. The defensible claim is that no known failure mode is unhandled.</a:t>
            </a:r>
          </a:p>
          <a:p>
            <a:pPr algn="l">
              <a:lnSpc>
                <a:spcPct val="135000"/>
              </a:lnSpc>
            </a:pPr>
            <a:r>
              <a:rPr sz="1200" b="0" i="1">
                <a:solidFill>
                  <a:srgbClr val="8A939E"/>
                </a:solidFill>
                <a:latin typeface="Arial"/>
              </a:rPr>
              <a:t>[Insert a cited industry figure for average chargeback handling cost here — do not estimate one.]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E"/>
                </a:solidFill>
                <a:latin typeface="Arial"/>
              </a:rPr>
              <a:t>[TEAM NAME]  ·  American Express CodeStreet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39E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0A2A5E"/>
                </a:solidFill>
                <a:latin typeface="Arial"/>
              </a:rPr>
              <a:t>Demo Flow  &amp;  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06FCF"/>
                </a:solidFill>
                <a:latin typeface="Arial"/>
              </a:rPr>
              <a:t>Live Demo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A2A5E"/>
                </a:solidFill>
                <a:latin typeface="Arial"/>
              </a:rPr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2514600"/>
            <a:ext cx="48463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0A2A5E"/>
                </a:solidFill>
                <a:latin typeface="Arial"/>
              </a:rPr>
              <a:t>Open a filed dispute — no evidence on it yet.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7296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A2A5E"/>
                </a:solidFill>
                <a:latin typeface="Arial"/>
              </a:rPr>
              <a:t>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3172968"/>
            <a:ext cx="48463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0A2A5E"/>
                </a:solidFill>
                <a:latin typeface="Arial"/>
              </a:rPr>
              <a:t>Auto-gather: four sources report live, hits and misses, with latencies.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31335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A2A5E"/>
                </a:solidFill>
                <a:latin typeface="Arial"/>
              </a:rPr>
              <a:t>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3831335"/>
            <a:ext cx="48463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0A2A5E"/>
                </a:solidFill>
                <a:latin typeface="Arial"/>
              </a:rPr>
              <a:t>Resolve: verdict, Amex reason code, signal breakdown, counterfactual.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8970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A2A5E"/>
                </a:solidFill>
                <a:latin typeface="Arial"/>
              </a:rPr>
              <a:t>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4489704"/>
            <a:ext cx="48463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0A2A5E"/>
                </a:solidFill>
                <a:latin typeface="Arial"/>
              </a:rPr>
              <a:t>Switch to the other party's panel — the identical explanation.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14807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A2A5E"/>
                </a:solidFill>
                <a:latin typeface="Arial"/>
              </a:rPr>
              <a:t>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5148072"/>
            <a:ext cx="48463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0A2A5E"/>
                </a:solidFill>
                <a:latin typeface="Arial"/>
              </a:rPr>
              <a:t>Edge case: file contradicting evidence. The verdict is withdrawn and the case re-opens.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9659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C9A239"/>
                </a:solidFill>
                <a:latin typeface="Arial"/>
              </a:rPr>
              <a:t>Roadmap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0" y="2587752"/>
            <a:ext cx="128016" cy="128016"/>
          </a:xfrm>
          <a:prstGeom prst="ellipse">
            <a:avLst/>
          </a:prstGeom>
          <a:solidFill>
            <a:srgbClr val="C9A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0840" y="2514600"/>
            <a:ext cx="4617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0A2A5E"/>
                </a:solidFill>
                <a:latin typeface="Arial"/>
              </a:rPr>
              <a:t>Abstain as a real verdict, for cases no human could decide either.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0" y="3456432"/>
            <a:ext cx="128016" cy="128016"/>
          </a:xfrm>
          <a:prstGeom prst="ellipse">
            <a:avLst/>
          </a:prstGeom>
          <a:solidFill>
            <a:srgbClr val="C9A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20840" y="3383280"/>
            <a:ext cx="4617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0A2A5E"/>
                </a:solidFill>
                <a:latin typeface="Arial"/>
              </a:rPr>
              <a:t>Adverse inference weighted by how probative a filing is, not whether it exists.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0" y="4325112"/>
            <a:ext cx="128016" cy="128016"/>
          </a:xfrm>
          <a:prstGeom prst="ellipse">
            <a:avLst/>
          </a:prstGeom>
          <a:solidFill>
            <a:srgbClr val="C9A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4251960"/>
            <a:ext cx="4617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0A2A5E"/>
                </a:solidFill>
                <a:latin typeface="Arial"/>
              </a:rPr>
              <a:t>A held-out corpus nobody sees while tuning — the only way the accuracy number starts meaning something.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0" y="5193792"/>
            <a:ext cx="128016" cy="128016"/>
          </a:xfrm>
          <a:prstGeom prst="ellipse">
            <a:avLst/>
          </a:prstGeom>
          <a:solidFill>
            <a:srgbClr val="C9A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5120640"/>
            <a:ext cx="4617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0A2A5E"/>
                </a:solidFill>
                <a:latin typeface="Arial"/>
              </a:rPr>
              <a:t>Fit the weights to resolved outcomes. The scorecard stays deterministic; the counterfactual tells you which signal to collect next.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E"/>
                </a:solidFill>
                <a:latin typeface="Arial"/>
              </a:rPr>
              <a:t>[TEAM NAME]  ·  American Express CodeStreet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39E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0A2A5E"/>
                </a:solidFill>
                <a:latin typeface="Arial"/>
              </a:rPr>
              <a:t>Our Team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17320" y="2103120"/>
            <a:ext cx="4251960" cy="3017520"/>
          </a:xfrm>
          <a:prstGeom prst="roundRect">
            <a:avLst>
              <a:gd name="adj" fmla="val 6000"/>
            </a:avLst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990088" y="2514600"/>
            <a:ext cx="1097280" cy="1097280"/>
          </a:xfrm>
          <a:prstGeom prst="ellipse">
            <a:avLst/>
          </a:prstGeom>
          <a:solidFill>
            <a:srgbClr val="0A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90088" y="288036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3931920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0A2A5E"/>
                </a:solidFill>
                <a:latin typeface="Arial"/>
              </a:rPr>
              <a:t>[Member 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4389120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472"/>
                </a:solidFill>
                <a:latin typeface="Arial"/>
              </a:rPr>
              <a:t>[Role / focus area]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03120"/>
            <a:ext cx="4251960" cy="3017520"/>
          </a:xfrm>
          <a:prstGeom prst="roundRect">
            <a:avLst>
              <a:gd name="adj" fmla="val 6000"/>
            </a:avLst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36408" y="2514600"/>
            <a:ext cx="1097280" cy="1097280"/>
          </a:xfrm>
          <a:prstGeom prst="ellipse">
            <a:avLst/>
          </a:prstGeom>
          <a:solidFill>
            <a:srgbClr val="0A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36408" y="288036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931920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0A2A5E"/>
                </a:solidFill>
                <a:latin typeface="Arial"/>
              </a:rPr>
              <a:t>[Member 2]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389120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472"/>
                </a:solidFill>
                <a:latin typeface="Arial"/>
              </a:rPr>
              <a:t>[Role / focus area]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E"/>
                </a:solidFill>
                <a:latin typeface="Arial"/>
              </a:rPr>
              <a:t>[TEAM NAME]  ·  American Express CodeStreet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39E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463040" y="4206240"/>
            <a:ext cx="3291840" cy="3291840"/>
          </a:xfrm>
          <a:prstGeom prst="ellipse">
            <a:avLst/>
          </a:prstGeom>
          <a:solidFill>
            <a:srgbClr val="061D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7889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300" b="1" i="0">
                <a:solidFill>
                  <a:srgbClr val="FFFFFF"/>
                </a:solidFill>
                <a:latin typeface="Arial"/>
              </a:rPr>
              <a:t>Explainability isn't a constraint on accuracy here. It's the training signal.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6FB4EC"/>
                </a:solidFill>
                <a:latin typeface="Arial"/>
              </a:rPr>
              <a:t>Thank you — questions welcome.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