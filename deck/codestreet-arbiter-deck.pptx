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9224" y="530352"/>
            <a:ext cx="274320" cy="274320"/>
          </a:xfrm>
          <a:prstGeom prst="ellipse">
            <a:avLst/>
          </a:prstGeom>
          <a:solidFill>
            <a:srgbClr val="006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39"/>
                </a:solidFill>
                <a:latin typeface="Arial"/>
              </a:rPr>
              <a:t>AMERICAN EXPRESS CODESTREET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7680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ARBITER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75104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006FCF"/>
                </a:solidFill>
                <a:latin typeface="Arial"/>
              </a:rPr>
              <a:t>Dispute Resolution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42032"/>
            <a:ext cx="1188720" cy="54864"/>
          </a:xfrm>
          <a:prstGeom prst="rect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79776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A neutral arbiter that shows both sides the same reasoning — in seconds, not weeks.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75887"/>
            <a:ext cx="566928" cy="566928"/>
          </a:xfrm>
          <a:prstGeom prst="ellipse">
            <a:avLst/>
          </a:prstGeom>
          <a:noFill/>
          <a:ln w="19050">
            <a:solidFill>
              <a:srgbClr val="C9A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13048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239"/>
                </a:solidFill>
                <a:latin typeface="Arial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703320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Extracts facts,
never decides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3432" y="3648456"/>
            <a:ext cx="10972" cy="621792"/>
          </a:xfrm>
          <a:prstGeom prst="rect">
            <a:avLst/>
          </a:prstGeom>
          <a:solidFill>
            <a:srgbClr val="2A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50591" y="3675887"/>
            <a:ext cx="566928" cy="566928"/>
          </a:xfrm>
          <a:prstGeom prst="ellipse">
            <a:avLst/>
          </a:prstGeom>
          <a:noFill/>
          <a:ln w="19050">
            <a:solidFill>
              <a:srgbClr val="C9A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1" y="3813048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239"/>
                </a:solidFill>
                <a:latin typeface="Arial"/>
              </a:rPr>
              <a:t>SC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3" y="3703320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25 named signals,
one scorecard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3" y="3648456"/>
            <a:ext cx="10972" cy="621792"/>
          </a:xfrm>
          <a:prstGeom prst="rect">
            <a:avLst/>
          </a:prstGeom>
          <a:solidFill>
            <a:srgbClr val="2A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8264" y="3675887"/>
            <a:ext cx="566928" cy="566928"/>
          </a:xfrm>
          <a:prstGeom prst="ellipse">
            <a:avLst/>
          </a:prstGeom>
          <a:noFill/>
          <a:ln w="19050">
            <a:solidFill>
              <a:srgbClr val="C9A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3813048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239"/>
                </a:solidFill>
                <a:latin typeface="Arial"/>
              </a:rPr>
              <a:t>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3703320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Settle before
adjudicating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3648456"/>
            <a:ext cx="10972" cy="621792"/>
          </a:xfrm>
          <a:prstGeom prst="rect">
            <a:avLst/>
          </a:prstGeom>
          <a:solidFill>
            <a:srgbClr val="2A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3675887"/>
            <a:ext cx="566928" cy="566928"/>
          </a:xfrm>
          <a:prstGeom prst="ellipse">
            <a:avLst/>
          </a:prstGeom>
          <a:noFill/>
          <a:ln w="19050">
            <a:solidFill>
              <a:srgbClr val="C9A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813048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239"/>
                </a:solidFill>
                <a:latin typeface="Arial"/>
              </a:rPr>
              <a:t>XP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703320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Counterfactual on
every verdict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90288"/>
            <a:ext cx="7680960" cy="8686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2A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828032"/>
            <a:ext cx="402336" cy="402336"/>
          </a:xfrm>
          <a:prstGeom prst="ellipse">
            <a:avLst/>
          </a:prstGeom>
          <a:noFill/>
          <a:ln w="38100">
            <a:solidFill>
              <a:srgbClr val="C9A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4718304"/>
            <a:ext cx="6583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The decision is never in the model. </a:t>
            </a:r>
            <a:r>
              <a:rPr sz="1400" b="1" i="0">
                <a:solidFill>
                  <a:srgbClr val="C9A239"/>
                </a:solidFill>
                <a:latin typeface="Arial"/>
              </a:rPr>
              <a:t>Every point traces to a named rule</a:t>
            </a:r>
            <a:r>
              <a:rPr sz="1400" b="1" i="0">
                <a:solidFill>
                  <a:srgbClr val="FFFFFF"/>
                </a:solidFill>
                <a:latin typeface="Arial"/>
              </a:rPr>
              <a:t> both parties can read.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235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239"/>
                </a:solidFill>
                <a:latin typeface="Arial"/>
              </a:rPr>
              <a:t>Theme: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Frictionless Dispute &amp; Chargeback 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3445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239"/>
                </a:solidFill>
                <a:latin typeface="Arial"/>
              </a:rPr>
              <a:t>Team Name: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[TEAM 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453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239"/>
                </a:solidFill>
                <a:latin typeface="Arial"/>
              </a:rPr>
              <a:t>Team Members: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[Member 1]  •  [Member 2]</a:t>
            </a:r>
          </a:p>
        </p:txBody>
      </p:sp>
      <p:sp>
        <p:nvSpPr>
          <p:cNvPr id="31" name="Oval 30"/>
          <p:cNvSpPr/>
          <p:nvPr/>
        </p:nvSpPr>
        <p:spPr>
          <a:xfrm>
            <a:off x="8092441" y="1188721"/>
            <a:ext cx="3749039" cy="37490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9328" y="1435608"/>
            <a:ext cx="3255264" cy="3255264"/>
          </a:xfrm>
          <a:prstGeom prst="ellipse">
            <a:avLst/>
          </a:prstGeom>
          <a:solidFill>
            <a:srgbClr val="06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68512" y="1764792"/>
            <a:ext cx="2596896" cy="2596896"/>
          </a:xfrm>
          <a:prstGeom prst="ellipse">
            <a:avLst/>
          </a:prstGeom>
          <a:noFill/>
          <a:ln w="12700">
            <a:solidFill>
              <a:srgbClr val="006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52560" y="2148840"/>
            <a:ext cx="1828800" cy="1828800"/>
          </a:xfrm>
          <a:prstGeom prst="ellipse">
            <a:avLst/>
          </a:prstGeom>
          <a:noFill/>
          <a:ln w="12700">
            <a:solidFill>
              <a:srgbClr val="C9A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66376" y="2962656"/>
            <a:ext cx="201168" cy="201168"/>
          </a:xfrm>
          <a:prstGeom prst="ellipse">
            <a:avLst/>
          </a:prstGeom>
          <a:solidFill>
            <a:srgbClr val="006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16668" y="1714500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31068" y="2098548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15116" y="3012948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31068" y="3927348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6668" y="4311396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02268" y="3927348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618220" y="3012948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02268" y="2098548"/>
            <a:ext cx="100584" cy="100584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2404872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One </a:t>
            </a:r>
            <a:r>
              <a:rPr sz="1500" b="1" i="0">
                <a:solidFill>
                  <a:srgbClr val="6FB4EC"/>
                </a:solidFill>
                <a:latin typeface="Arial"/>
              </a:rPr>
              <a:t>Scorecard.</a:t>
            </a:r>
          </a:p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Every Case.</a:t>
            </a:r>
          </a:p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Full Transparency.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A6472"/>
                </a:solidFill>
                <a:latin typeface="Arial"/>
              </a:rPr>
              <a:t>A card member disputes a charge, and then everyone waits — including the merchant.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76856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214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A5E"/>
                </a:solidFill>
                <a:latin typeface="Arial"/>
              </a:rPr>
              <a:t>Weeks of waiting, on both sides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The merchant gets weeks to respond and the card member is out of pocket meanwhile. Neither can do anything to speed it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11296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3558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A5E"/>
                </a:solidFill>
                <a:latin typeface="Arial"/>
              </a:rPr>
              <a:t>A verdict with no reasoning attached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216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An analyst reads shipping records, policies and correspondence, and issues an outcome. Neither party is told which fact decided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45736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028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A5E"/>
                </a:solidFill>
                <a:latin typeface="Arial"/>
              </a:rPr>
              <a:t>Every tool on the market is one-sided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56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Merchant win-rate services argue for the merchant. Network data-sharing prevents escalation. Nobody arbitrates neutrally and shows their working.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74519"/>
            <a:ext cx="10149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240280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1" i="1">
                <a:solidFill>
                  <a:srgbClr val="0A2A5E"/>
                </a:solidFill>
                <a:latin typeface="Arial"/>
              </a:rPr>
              <a:t>“An issuer-run arbiter that auto-gathers the evidence, weighs it with a deterministic scorecard, and hands both parties the same explanation for the same verdict.”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5196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What we are NOT building: </a:t>
            </a: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472"/>
                </a:solidFill>
                <a:latin typeface="Arial"/>
              </a:rPr>
              <a:t>Not fraud detection — the transaction is genuine and the dispute is about what happened next. Not a merchant win-rate tool. Not a trained classifier: the model extracts facts and writes prose, it never decides the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What Makes Us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447288" cy="320040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2395728"/>
            <a:ext cx="566928" cy="566928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4203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31012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A2A5E"/>
                </a:solidFill>
                <a:latin typeface="Arial"/>
              </a:rPr>
              <a:t>Neutral, and two-sided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9319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Both parties read the identical explanation. Every competing tool argues for one side or moves data between institutions.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47288" cy="3200400"/>
          </a:xfrm>
          <a:prstGeom prst="roundRect">
            <a:avLst>
              <a:gd name="adj" fmla="val 6000"/>
            </a:avLst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45736" y="2395728"/>
            <a:ext cx="566928" cy="566928"/>
          </a:xfrm>
          <a:prstGeom prst="ellipse">
            <a:avLst/>
          </a:prstGeom>
          <a:solidFill>
            <a:srgbClr val="006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54203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31012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Arial"/>
              </a:rPr>
              <a:t>The model never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39319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C7D8EE"/>
                </a:solidFill>
                <a:latin typeface="Arial"/>
              </a:rPr>
              <a:t>An LLM extracts typed facts and narrates. A deterministic scorecard rules. That split is what makes the verdict reproducible, auditable and testable.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965960"/>
            <a:ext cx="3447288" cy="320040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67344" y="2395728"/>
            <a:ext cx="566928" cy="566928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54203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31012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A2A5E"/>
                </a:solidFill>
                <a:latin typeface="Arial"/>
              </a:rPr>
              <a:t>It reports its own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9319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Confidence is damped by how much evidence exists, ties are disclosed on the verdict, and cases nobody could decide are flagged for a human.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A6472"/>
                </a:solidFill>
                <a:latin typeface="Arial"/>
              </a:rPr>
              <a:t>Five stages. Adjudication is the fallback, not the first move.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A2A5E"/>
                </a:solidFill>
                <a:latin typeface="Arial"/>
              </a:rPr>
              <a:t>Gather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Arial"/>
              </a:rPr>
              <a:t>4 sources
queried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2761488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6FC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33172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62432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A2A5E"/>
                </a:solidFill>
                <a:latin typeface="Arial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1752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Arial"/>
              </a:rPr>
              <a:t>typed facts,
not prose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2761488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6FCF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33172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62432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06FCF"/>
                </a:solidFill>
                <a:latin typeface="Arial"/>
              </a:rPr>
              <a:t>Negotiate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01752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Arial"/>
              </a:rPr>
              <a:t>settle without
a ruling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2761488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6FC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33172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62432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A2A5E"/>
                </a:solidFill>
                <a:latin typeface="Arial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01752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Arial"/>
              </a:rPr>
              <a:t>25 weighted
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3" y="2761488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6FCF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33172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2432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A2A5E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01752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Arial"/>
              </a:rPr>
              <a:t>code, reasons,
counterfactual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A settlement both sides accept closes the case with no verdict at all. </a:t>
            </a:r>
            <a:r>
              <a:rPr sz="1300" b="0" i="0">
                <a:solidFill>
                  <a:srgbClr val="5A6472"/>
                </a:solidFill>
                <a:latin typeface="Arial"/>
              </a:rPr>
              <a:t>Where they cannot agree, the scorecard rules — and because it is arithmetic over named signals, the same evidence always produces the same answer.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Four Layers of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A6472"/>
                </a:solidFill>
                <a:latin typeface="Arial"/>
              </a:rPr>
              <a:t>In increasing order of usefulness to the party who just lost.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66544"/>
            <a:ext cx="457200" cy="457200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A2A5E"/>
                </a:solidFill>
                <a:latin typeface="Arial"/>
              </a:rPr>
              <a:t>Signal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029968"/>
            <a:ext cx="7589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Every point, named, attributed to the document it came from.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26664"/>
            <a:ext cx="457200" cy="457200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9981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A2A5E"/>
                </a:solidFill>
                <a:latin typeface="Arial"/>
              </a:rPr>
              <a:t>Amex reason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90088"/>
            <a:ext cx="7589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C02 / C08 / C31 / C32 / P08, derived deterministically from claim type and fired signals.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31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A2A5E"/>
                </a:solidFill>
                <a:latin typeface="Arial"/>
              </a:rPr>
              <a:t>The counterfactual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50208"/>
            <a:ext cx="7589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“This would have gone the other way if these had not been established (−45 points)…” Pure arithmetic over the scorecard, so it cannot hallucinate.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46904"/>
            <a:ext cx="457200" cy="457200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005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92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A2A5E"/>
                </a:solidFill>
                <a:latin typeface="Arial"/>
              </a:rPr>
              <a:t>The 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910328"/>
            <a:ext cx="7589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Required to name the losing side's strongest point and why it was outweighed.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52160"/>
            <a:ext cx="10744200" cy="384048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0A2A5E"/>
                </a:solidFill>
                <a:latin typeface="Arial"/>
              </a:rPr>
              <a:t>Plus a “recommended for human review” flag when a party filed evidence no rule reads, or confidence falls below 35%.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Fairness, Stated Out 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39"/>
                </a:solidFill>
                <a:latin typeface="Arial"/>
              </a:rPr>
              <a:t>We do not claim the scorecard is unbiased.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Ambiguous cases resolve to the card member, matching issuer provisional-credit practice. That default is deliberate — and it is printed on the verdict as a zero-weight signal, not hidden inside a comparison operator.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45720" cy="868680"/>
          </a:xfrm>
          <a:prstGeom prst="rect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9A239"/>
                </a:solidFill>
                <a:latin typeface="Arial"/>
              </a:rPr>
              <a:t>The target is not a bias gap of zero.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It is that every point of directional bias traces to a rule we state out 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C9A239"/>
                </a:solidFill>
                <a:latin typeface="Arial"/>
              </a:rPr>
              <a:t>bias_gap 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D8EE"/>
                </a:solidFill>
                <a:latin typeface="Arial"/>
              </a:rPr>
              <a:t>recall equal for both parties on the labelled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4434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C9A239"/>
                </a:solidFill>
                <a:latin typeface="Arial"/>
              </a:rPr>
              <a:t>0 confidently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8920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D8EE"/>
                </a:solidFill>
                <a:latin typeface="Arial"/>
              </a:rPr>
              <a:t>no verdict above 80% confidence 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434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C9A239"/>
                </a:solidFill>
                <a:latin typeface="Arial"/>
              </a:rPr>
              <a:t>CI-enforced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920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D8EE"/>
                </a:solidFill>
                <a:latin typeface="Arial"/>
              </a:rPr>
              <a:t>the build fails on any weight asymmetry left undocumented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Scope: What's Real vs. Mocked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A6472"/>
                </a:solidFill>
                <a:latin typeface="Arial"/>
              </a:rPr>
              <a:t>Stated plainly, because a system whose thesis is reporting its own uncertainty should demonstrate that about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744200" cy="475488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22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3225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98064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Evidence extraction, scoring, verdicts, counterfactuals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980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2A5E"/>
                </a:solidFill>
                <a:latin typeface="Arial"/>
              </a:rPr>
              <a:t>Fully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45536"/>
            <a:ext cx="10744200" cy="475488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Negotiation: offers, counters, 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273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2A5E"/>
                </a:solidFill>
                <a:latin typeface="Arial"/>
              </a:rPr>
              <a:t>Fully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Two-party live interface, auto-gather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49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2A5E"/>
                </a:solidFill>
                <a:latin typeface="Arial"/>
              </a:rPr>
              <a:t>Fully working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96512"/>
            <a:ext cx="10744200" cy="475488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Test suite, accuracy / fairness / calibration 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224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2A5E"/>
                </a:solidFill>
                <a:latin typeface="Arial"/>
              </a:rPr>
              <a:t>Fully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0016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The four evidence sources (carrier, ledger, policy, CRM)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7000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Simulated for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47488"/>
            <a:ext cx="10744200" cy="475488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75504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Connector latencies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1755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Reported, not measured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5099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A2A5E"/>
                </a:solidFill>
                <a:latin typeface="Arial"/>
              </a:rPr>
              <a:t>Learned weights, abstain verdict, production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6509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Roadmap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Measured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FB4EC"/>
                </a:solidFill>
                <a:latin typeface="Arial"/>
              </a:rPr>
              <a:t>Every figure below is produced by GET /metrics on the running system, not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9A239"/>
                </a:solidFill>
                <a:latin typeface="Arial"/>
              </a:rPr>
              <a:t>54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labelled cases called correctly
on the golden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3774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9A239"/>
                </a:solidFill>
                <a:latin typeface="Arial"/>
              </a:rPr>
              <a:t>0.12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4290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p95 to parse, score and explain
a complete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774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9A239"/>
                </a:solidFill>
                <a:latin typeface="Arial"/>
              </a:rPr>
              <a:t>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4290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bias gap between the two parties—
recall is equal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744200" cy="1234440"/>
          </a:xfrm>
          <a:prstGeom prst="roundRect">
            <a:avLst>
              <a:gd name="adj" fmla="val 6000"/>
            </a:avLst>
          </a:prstGeom>
          <a:solidFill>
            <a:srgbClr val="06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C9A239"/>
                </a:solidFill>
                <a:latin typeface="Arial"/>
              </a:rPr>
              <a:t>Read 54/54 as a warning, not a trophy.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The scorecard was tuned against this corpus, so a perfect score means the corpus has stopped discriminating — not that the system is perfect. The defensible claim is that no known failure mode is unhandled.</a:t>
            </a:r>
          </a:p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8A939E"/>
                </a:solidFill>
                <a:latin typeface="Arial"/>
              </a:rPr>
              <a:t>[Insert a cited industry figure for average chargeback handling cost here — do not estimate one.]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Demo Flow  &amp; 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6FCF"/>
                </a:solidFill>
                <a:latin typeface="Arial"/>
              </a:rPr>
              <a:t>Live Demo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14600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Open a filed dispute — no evidence on it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729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172968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Auto-gather: four sources report live, hits and misses, with latencies.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3133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31335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Resolve: verdict, Amex reason code, signal breakdown, counterfactual.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97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9704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Switch to the other party's panel — the identical explanation.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480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A5E"/>
                </a:solidFill>
                <a:latin typeface="Arial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148072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Edge case: file contradicting evidence. The verdict is withdrawn and the case re-opens.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39"/>
                </a:solidFill>
                <a:latin typeface="Arial"/>
              </a:rPr>
              <a:t>Roadmap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587752"/>
            <a:ext cx="128016" cy="128016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51460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Abstain as a real verdict, for cases no human could decide either.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456432"/>
            <a:ext cx="128016" cy="128016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38328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Adverse inference weighted by how probative a filing is, not whether it exists.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325112"/>
            <a:ext cx="128016" cy="128016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25196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A held-out corpus nobody sees while tuning — the only way the accuracy number starts meaning something.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5193792"/>
            <a:ext cx="128016" cy="128016"/>
          </a:xfrm>
          <a:prstGeom prst="ellipse">
            <a:avLst/>
          </a:prstGeom>
          <a:solidFill>
            <a:srgbClr val="C9A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512064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A2A5E"/>
                </a:solidFill>
                <a:latin typeface="Arial"/>
              </a:rPr>
              <a:t>Fit the weights to resolved outcomes. The scorecard stays deterministic; the counterfactual tells you which signal to collect next.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2A5E"/>
                </a:solidFill>
                <a:latin typeface="Arial"/>
              </a:rPr>
              <a:t>Our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103120"/>
            <a:ext cx="4251960" cy="301752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90088" y="2514600"/>
            <a:ext cx="1097280" cy="1097280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90088" y="28803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9319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A2A5E"/>
                </a:solidFill>
                <a:latin typeface="Arial"/>
              </a:rPr>
              <a:t>[Member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3891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472"/>
                </a:solidFill>
                <a:latin typeface="Arial"/>
              </a:rPr>
              <a:t>[Role / focus area]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4251960" cy="301752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36408" y="2514600"/>
            <a:ext cx="1097280" cy="1097280"/>
          </a:xfrm>
          <a:prstGeom prst="ellipse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28803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9319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A2A5E"/>
                </a:solidFill>
                <a:latin typeface="Arial"/>
              </a:rPr>
              <a:t>[Member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3891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472"/>
                </a:solidFill>
                <a:latin typeface="Arial"/>
              </a:rPr>
              <a:t>[Role / focus area]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[TEAM NAME]  ·  American Express CodeStreet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39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06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Arial"/>
              </a:rPr>
              <a:t>Explainability isn't a constraint on accuracy here. It's the training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FB4EC"/>
                </a:solidFill>
                <a:latin typeface="Arial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